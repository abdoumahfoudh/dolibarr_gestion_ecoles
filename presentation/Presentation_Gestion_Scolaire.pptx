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système comme une plateforme unique, en ligne, qui relie tous les services de l’école.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mailto:abdouhassen2228@gmail.com" TargetMode="External"/><Relationship Id="rId1" Type="http://schemas.openxmlformats.org/officeDocument/2006/relationships/image" Target="../media/image-2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2011680"/>
            <a:ext cx="6858000" cy="6858000"/>
          </a:xfrm>
          <a:prstGeom prst="ellipse">
            <a:avLst/>
          </a:prstGeom>
          <a:solidFill>
            <a:srgbClr val="0F4C5C">
              <a:alpha val="60000"/>
            </a:srgbClr>
          </a:solidFill>
          <a:ln w="12700">
            <a:solidFill>
              <a:srgbClr val="0F4C5C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0972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 GESTION SCOLAIRE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Toute votre école sur une seule plateforme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3832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Inscriptions, paiements, absences, notes, personnel, salaires et espace parents : tout est relié, à jour et accessible partout.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4846320"/>
            <a:ext cx="4023360" cy="502920"/>
          </a:xfrm>
          <a:prstGeom prst="roundRect">
            <a:avLst>
              <a:gd name="adj" fmla="val 49091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48463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aux directions d’école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27648" y="1389888"/>
            <a:ext cx="5541264" cy="3625366"/>
          </a:xfrm>
          <a:prstGeom prst="roundRect">
            <a:avLst>
              <a:gd name="adj" fmla="val 25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0000"/>
              </a:srgbClr>
            </a:outerShdw>
          </a:effectLst>
        </p:spPr>
      </p:sp>
      <p:pic>
        <p:nvPicPr>
          <p:cNvPr id="9" name="Image 0" descr="/tmp/claude-0/final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463040"/>
            <a:ext cx="5394960" cy="34790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quotidien d’une direction d’école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017520" cy="2103120"/>
          </a:xfrm>
          <a:prstGeom prst="roundRect">
            <a:avLst>
              <a:gd name="adj" fmla="val 5217"/>
            </a:avLst>
          </a:prstGeom>
          <a:solidFill>
            <a:srgbClr val="F5F9FA"/>
          </a:solidFill>
          <a:ln w="9525">
            <a:solidFill>
              <a:srgbClr val="D5E2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FBE3E0"/>
          </a:solidFill>
          <a:ln w="12700">
            <a:solidFill>
              <a:srgbClr val="FBE3E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0409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560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 mal suivis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5351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Cahiers de caisse, reçus manuscrits, impayés découverts trop tard.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794760" y="1600200"/>
            <a:ext cx="3017520" cy="2103120"/>
          </a:xfrm>
          <a:prstGeom prst="roundRect">
            <a:avLst>
              <a:gd name="adj" fmla="val 5217"/>
            </a:avLst>
          </a:prstGeom>
          <a:solidFill>
            <a:srgbClr val="F5F9FA"/>
          </a:solidFill>
          <a:ln w="9525">
            <a:solidFill>
              <a:srgbClr val="D5E2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069080" y="1874520"/>
            <a:ext cx="640080" cy="640080"/>
          </a:xfrm>
          <a:prstGeom prst="ellipse">
            <a:avLst/>
          </a:prstGeom>
          <a:solidFill>
            <a:srgbClr val="FBE3E0"/>
          </a:solidFill>
          <a:ln w="12700">
            <a:solidFill>
              <a:srgbClr val="FBE3E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501" y="204094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69080" y="2560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Absences sur papier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069080" y="295351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prévenus tard, retards répétés qui passent inaperçus.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3017520" cy="2103120"/>
          </a:xfrm>
          <a:prstGeom prst="roundRect">
            <a:avLst>
              <a:gd name="adj" fmla="val 5217"/>
            </a:avLst>
          </a:prstGeom>
          <a:solidFill>
            <a:srgbClr val="F5F9FA"/>
          </a:solidFill>
          <a:ln w="9525">
            <a:solidFill>
              <a:srgbClr val="D5E2E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rgbClr val="FBE3E0"/>
          </a:solidFill>
          <a:ln w="12700">
            <a:solidFill>
              <a:srgbClr val="FBE3E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437266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" y="4892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Bulletins interminables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528523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Moyennes, rangs et mentions calculés à la main, avec des erreurs.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3794760" y="3931920"/>
            <a:ext cx="3017520" cy="2103120"/>
          </a:xfrm>
          <a:prstGeom prst="roundRect">
            <a:avLst>
              <a:gd name="adj" fmla="val 5217"/>
            </a:avLst>
          </a:prstGeom>
          <a:solidFill>
            <a:srgbClr val="F5F9FA"/>
          </a:solidFill>
          <a:ln w="9525">
            <a:solidFill>
              <a:srgbClr val="D5E2E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069080" y="4206240"/>
            <a:ext cx="640080" cy="640080"/>
          </a:xfrm>
          <a:prstGeom prst="ellipse">
            <a:avLst/>
          </a:prstGeom>
          <a:solidFill>
            <a:srgbClr val="FBE3E0"/>
          </a:solidFill>
          <a:ln w="12700">
            <a:solidFill>
              <a:srgbClr val="FBE3E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5501" y="437266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069080" y="4892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 visibilité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4069080" y="528523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la direction ni les parents n’ont une vue claire et à jour.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7315200" y="1600200"/>
            <a:ext cx="4343400" cy="4434840"/>
          </a:xfrm>
          <a:prstGeom prst="roundRect">
            <a:avLst>
              <a:gd name="adj" fmla="val 3158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7635240" y="1828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réponse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7635240" y="21945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seule source d’information, à jour en temps réel</a:t>
            </a:r>
            <a:endParaRPr lang="en-US" sz="2200" dirty="0"/>
          </a:p>
        </p:txBody>
      </p:sp>
      <p:sp>
        <p:nvSpPr>
          <p:cNvPr id="27" name="Shape 21"/>
          <p:cNvSpPr/>
          <p:nvPr/>
        </p:nvSpPr>
        <p:spPr>
          <a:xfrm>
            <a:off x="7635240" y="3429000"/>
            <a:ext cx="310896" cy="310896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6073" y="3509833"/>
            <a:ext cx="149230" cy="14923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092440" y="340156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paiement donne un reçu et met à jour la caisse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7635240" y="4050792"/>
            <a:ext cx="310896" cy="310896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6073" y="4131625"/>
            <a:ext cx="149230" cy="14923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092440" y="402336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L’appel se fait en ligne, les parents sont prévenus</a:t>
            </a:r>
            <a:endParaRPr lang="en-US" sz="1400" dirty="0"/>
          </a:p>
        </p:txBody>
      </p:sp>
      <p:sp>
        <p:nvSpPr>
          <p:cNvPr id="33" name="Shape 25"/>
          <p:cNvSpPr/>
          <p:nvPr/>
        </p:nvSpPr>
        <p:spPr>
          <a:xfrm>
            <a:off x="7635240" y="4672584"/>
            <a:ext cx="310896" cy="310896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6073" y="4753417"/>
            <a:ext cx="149230" cy="14923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092440" y="4645152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bulletins se calculent tout seuls</a:t>
            </a:r>
            <a:endParaRPr lang="en-US" sz="1400" dirty="0"/>
          </a:p>
        </p:txBody>
      </p:sp>
      <p:sp>
        <p:nvSpPr>
          <p:cNvPr id="36" name="Shape 27"/>
          <p:cNvSpPr/>
          <p:nvPr/>
        </p:nvSpPr>
        <p:spPr>
          <a:xfrm>
            <a:off x="7635240" y="5294376"/>
            <a:ext cx="310896" cy="310896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6073" y="5375209"/>
            <a:ext cx="149230" cy="149230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8092440" y="526694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et parents suivent tout, même à distance</a:t>
            </a:r>
            <a:endParaRPr lang="en-US" sz="1400" dirty="0"/>
          </a:p>
        </p:txBody>
      </p:sp>
      <p:sp>
        <p:nvSpPr>
          <p:cNvPr id="39" name="Text 29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D’ENSEMBLE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plateforme, tous les services de l’école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5F9FA"/>
          </a:solidFill>
          <a:ln w="9525">
            <a:solidFill>
              <a:srgbClr val="D5E2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56232"/>
            <a:ext cx="685800" cy="6858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034540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017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matières, salles, emplois du temps, tarifs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55848" y="160020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5F9FA"/>
          </a:solidFill>
          <a:ln w="9525">
            <a:solidFill>
              <a:srgbClr val="D5E2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11880" y="1856232"/>
            <a:ext cx="685800" cy="6858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188" y="203454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1188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Élèves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611880" y="3017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Inscriptions, dossiers, responsables, passage d’année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163056" y="160020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5F9FA"/>
          </a:solidFill>
          <a:ln w="9525">
            <a:solidFill>
              <a:srgbClr val="D5E2E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19088" y="1856232"/>
            <a:ext cx="685800" cy="6858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03454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19088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419088" y="3017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Mensualités, reçus, impayés, entrées et sorties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970264" y="160020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5F9FA"/>
          </a:solidFill>
          <a:ln w="9525">
            <a:solidFill>
              <a:srgbClr val="D5E2E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226296" y="1856232"/>
            <a:ext cx="685800" cy="6858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4604" y="2034540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26296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 scolaire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9226296" y="3017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Appel, absences, retards, sanctions, alertes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39776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5F9FA"/>
          </a:solidFill>
          <a:ln w="9525">
            <a:solidFill>
              <a:srgbClr val="D5E2E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04672" y="4233672"/>
            <a:ext cx="685800" cy="6858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4411980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04672" y="5029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&amp; bulletins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804672" y="5394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Saisie, moyennes, rangs, conseil de classe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3355848" y="39776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5F9FA"/>
          </a:solidFill>
          <a:ln w="9525">
            <a:solidFill>
              <a:srgbClr val="D5E2E6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611880" y="4233672"/>
            <a:ext cx="685800" cy="6858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0188" y="4411980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611880" y="5029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3611880" y="5394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Dossiers, présence des enseignants, remplacements</a:t>
            </a:r>
            <a:endParaRPr lang="en-US" sz="1250" dirty="0"/>
          </a:p>
        </p:txBody>
      </p:sp>
      <p:sp>
        <p:nvSpPr>
          <p:cNvPr id="34" name="Shape 26"/>
          <p:cNvSpPr/>
          <p:nvPr/>
        </p:nvSpPr>
        <p:spPr>
          <a:xfrm>
            <a:off x="6163056" y="39776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5F9FA"/>
          </a:solidFill>
          <a:ln w="9525">
            <a:solidFill>
              <a:srgbClr val="D5E2E6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419088" y="4233672"/>
            <a:ext cx="685800" cy="6858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7396" y="4411980"/>
            <a:ext cx="329184" cy="329184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419088" y="5029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Salaires</a:t>
            </a:r>
            <a:endParaRPr lang="en-US" sz="1700" dirty="0"/>
          </a:p>
        </p:txBody>
      </p:sp>
      <p:sp>
        <p:nvSpPr>
          <p:cNvPr id="38" name="Text 29"/>
          <p:cNvSpPr txBox="1"/>
          <p:nvPr/>
        </p:nvSpPr>
        <p:spPr>
          <a:xfrm>
            <a:off x="6419088" y="5394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Bulletins de paie, avances, prêts, paiements</a:t>
            </a:r>
            <a:endParaRPr lang="en-US" sz="1250" dirty="0"/>
          </a:p>
        </p:txBody>
      </p:sp>
      <p:sp>
        <p:nvSpPr>
          <p:cNvPr id="39" name="Shape 30"/>
          <p:cNvSpPr/>
          <p:nvPr/>
        </p:nvSpPr>
        <p:spPr>
          <a:xfrm>
            <a:off x="8970264" y="39776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0F4C5C"/>
          </a:solidFill>
          <a:ln w="9525">
            <a:solidFill>
              <a:srgbClr val="0F4C5C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9226296" y="4233672"/>
            <a:ext cx="685800" cy="68580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4604" y="4411980"/>
            <a:ext cx="329184" cy="329184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226296" y="5029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Espaces en ligne</a:t>
            </a:r>
            <a:endParaRPr lang="en-US" sz="1700" dirty="0"/>
          </a:p>
        </p:txBody>
      </p:sp>
      <p:sp>
        <p:nvSpPr>
          <p:cNvPr id="43" name="Text 33"/>
          <p:cNvSpPr txBox="1"/>
          <p:nvPr/>
        </p:nvSpPr>
        <p:spPr>
          <a:xfrm>
            <a:off x="9226296" y="5394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Parents, élèves et enseignants sur téléphone</a:t>
            </a:r>
            <a:endParaRPr lang="en-US" sz="1250" dirty="0"/>
          </a:p>
        </p:txBody>
      </p:sp>
      <p:sp>
        <p:nvSpPr>
          <p:cNvPr id="44" name="Text 3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tableau de bord de la direction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472650"/>
            <a:ext cx="7424928" cy="4827101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9525">
            <a:solidFill>
              <a:srgbClr val="D5E2E6"/>
            </a:solidFill>
            <a:prstDash val="solid"/>
          </a:ln>
          <a:effectLst>
            <a:outerShdw sx="100000" sy="100000" kx="0" ky="0" algn="bl" rotWithShape="0" blurRad="101600" dist="38100" dir="5400000">
              <a:srgbClr val="0B2F3A">
                <a:alpha val="18000"/>
              </a:srgbClr>
            </a:outerShdw>
          </a:effectLst>
        </p:spPr>
      </p:sp>
      <p:pic>
        <p:nvPicPr>
          <p:cNvPr id="5" name="Image 0" descr="/tmp/claude-0/final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27514"/>
            <a:ext cx="7315200" cy="471737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21040" y="1600200"/>
            <a:ext cx="548640" cy="54864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3686" y="174284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006840" y="1581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chiffres du jour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9006840" y="1965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Élèves inscrits, encaissements du jour et du mois, impayés, employés.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8321040" y="3154680"/>
            <a:ext cx="548640" cy="54864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86" y="3297326"/>
            <a:ext cx="263347" cy="26334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006840" y="3136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alertes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9006840" y="3520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Appels non faits, absences, enseignants absents, derniers événements.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8321040" y="4709160"/>
            <a:ext cx="548640" cy="54864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3686" y="4851806"/>
            <a:ext cx="263347" cy="26334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006840" y="4690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graphiques clairs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9006840" y="5074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Élèves par niveau, paiements par mois, notes, salaires.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8321040" y="6126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module a aussi son propre tableau de bord.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ÉLÈVES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Inscriptions et dossiers des élèves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36776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" y="1708099"/>
            <a:ext cx="131674" cy="13167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1600200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Pré-inscription</a:t>
            </a:r>
            <a:pPr indent="0" marL="0">
              <a:buNone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liste d’attente puis validation par la direction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295144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" y="2366467"/>
            <a:ext cx="131674" cy="13167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60120" y="2258568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Matricule automatique</a:t>
            </a:r>
            <a:pPr indent="0" marL="0">
              <a:buNone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et numéro d’appel dans la classe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953512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" y="3024835"/>
            <a:ext cx="131674" cy="13167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60120" y="2916936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complet</a:t>
            </a:r>
            <a:pPr indent="0" marL="0">
              <a:buNone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identité en français et en arabe, santé, responsable, frères et sœurs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3611880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" y="3683203"/>
            <a:ext cx="131674" cy="13167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60120" y="3575304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du dossier</a:t>
            </a:r>
            <a:pPr indent="0" marL="0">
              <a:buNone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les pièces manquantes sont signalées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4270248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" y="4341571"/>
            <a:ext cx="131674" cy="13167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60120" y="4233672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Exonérations et réductions</a:t>
            </a:r>
            <a:pPr indent="0" marL="0">
              <a:buNone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bourse, enfant du personnel, fratrie…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548640" y="4928616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963" y="4999939"/>
            <a:ext cx="131674" cy="13167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960120" y="4892040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 d’inscription</a:t>
            </a:r>
            <a:pPr indent="0" marL="0">
              <a:buNone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et engagement du responsable en PDF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548640" y="5586984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963" y="5658307"/>
            <a:ext cx="131674" cy="13167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960120" y="5550408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à l’année suivante</a:t>
            </a:r>
            <a:pPr indent="0" marL="0">
              <a:buNone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réinscriptions en quelques clics</a:t>
            </a:r>
            <a:endParaRPr lang="en-US" sz="1400" dirty="0"/>
          </a:p>
        </p:txBody>
      </p:sp>
      <p:sp>
        <p:nvSpPr>
          <p:cNvPr id="25" name="Shape 16"/>
          <p:cNvSpPr/>
          <p:nvPr/>
        </p:nvSpPr>
        <p:spPr>
          <a:xfrm>
            <a:off x="5157216" y="1876166"/>
            <a:ext cx="6556248" cy="4020068"/>
          </a:xfrm>
          <a:prstGeom prst="roundRect">
            <a:avLst>
              <a:gd name="adj" fmla="val 1820"/>
            </a:avLst>
          </a:prstGeom>
          <a:solidFill>
            <a:srgbClr val="FFFFFF"/>
          </a:solidFill>
          <a:ln w="9525">
            <a:solidFill>
              <a:srgbClr val="D5E2E6"/>
            </a:solidFill>
            <a:prstDash val="solid"/>
          </a:ln>
          <a:effectLst>
            <a:outerShdw sx="100000" sy="100000" kx="0" ky="0" algn="bl" rotWithShape="0" blurRad="101600" dist="38100" dir="5400000">
              <a:srgbClr val="0B2F3A">
                <a:alpha val="18000"/>
              </a:srgbClr>
            </a:outerShdw>
          </a:effectLst>
        </p:spPr>
      </p:sp>
      <p:pic>
        <p:nvPicPr>
          <p:cNvPr id="26" name="Image 7" descr="/tmp/claude-0/final/eleve_car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2080" y="1931030"/>
            <a:ext cx="6446520" cy="391034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 &amp; CAISSE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Paiements des familles : plus d’impayés oubliés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468526"/>
            <a:ext cx="5596128" cy="3646627"/>
          </a:xfrm>
          <a:prstGeom prst="roundRect">
            <a:avLst>
              <a:gd name="adj" fmla="val 2006"/>
            </a:avLst>
          </a:prstGeom>
          <a:solidFill>
            <a:srgbClr val="FFFFFF"/>
          </a:solidFill>
          <a:ln w="9525">
            <a:solidFill>
              <a:srgbClr val="D5E2E6"/>
            </a:solidFill>
            <a:prstDash val="solid"/>
          </a:ln>
          <a:effectLst>
            <a:outerShdw sx="100000" sy="100000" kx="0" ky="0" algn="bl" rotWithShape="0" blurRad="101600" dist="38100" dir="5400000">
              <a:srgbClr val="0B2F3A">
                <a:alpha val="18000"/>
              </a:srgbClr>
            </a:outerShdw>
          </a:effectLst>
        </p:spPr>
      </p:sp>
      <p:pic>
        <p:nvPicPr>
          <p:cNvPr id="5" name="Image 0" descr="/tmp/claude-0/final/eleve_pa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23390"/>
            <a:ext cx="5486400" cy="353689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08776" y="1817825"/>
            <a:ext cx="5504688" cy="2948029"/>
          </a:xfrm>
          <a:prstGeom prst="roundRect">
            <a:avLst>
              <a:gd name="adj" fmla="val 2481"/>
            </a:avLst>
          </a:prstGeom>
          <a:solidFill>
            <a:srgbClr val="FFFFFF"/>
          </a:solidFill>
          <a:ln w="9525">
            <a:solidFill>
              <a:srgbClr val="D5E2E6"/>
            </a:solidFill>
            <a:prstDash val="solid"/>
          </a:ln>
          <a:effectLst>
            <a:outerShdw sx="100000" sy="100000" kx="0" ky="0" algn="bl" rotWithShape="0" blurRad="101600" dist="38100" dir="5400000">
              <a:srgbClr val="0B2F3A">
                <a:alpha val="18000"/>
              </a:srgbClr>
            </a:outerShdw>
          </a:effectLst>
        </p:spPr>
      </p:sp>
      <p:pic>
        <p:nvPicPr>
          <p:cNvPr id="7" name="Image 1" descr="/tmp/claude-0/final/impay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872689"/>
            <a:ext cx="5394960" cy="283830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5166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mois par mois de chaque élève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263640" y="51663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impayés, avec le téléphone du responsable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5577840"/>
            <a:ext cx="3520440" cy="685800"/>
          </a:xfrm>
          <a:prstGeom prst="roundRect">
            <a:avLst>
              <a:gd name="adj" fmla="val 16000"/>
            </a:avLst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85800" y="5669280"/>
            <a:ext cx="502920" cy="50292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" y="5800039"/>
            <a:ext cx="241402" cy="2414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557784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Reçu imprimé en un clic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297680" y="5577840"/>
            <a:ext cx="3520440" cy="685800"/>
          </a:xfrm>
          <a:prstGeom prst="roundRect">
            <a:avLst>
              <a:gd name="adj" fmla="val 16000"/>
            </a:avLst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434840" y="5669280"/>
            <a:ext cx="502920" cy="50292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5599" y="5800039"/>
            <a:ext cx="241402" cy="24140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074920" y="557784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reçu pour toute la famille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8046720" y="5577840"/>
            <a:ext cx="3520440" cy="685800"/>
          </a:xfrm>
          <a:prstGeom prst="roundRect">
            <a:avLst>
              <a:gd name="adj" fmla="val 16000"/>
            </a:avLst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8183880" y="5669280"/>
            <a:ext cx="502920" cy="50292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4639" y="5800039"/>
            <a:ext cx="241402" cy="24140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823960" y="557784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Espèces, Bankily, Masrvi, Sedad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 &amp; CAISSE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Trésorerie : l’argent qui entre et qui sort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82496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" y="1753819"/>
            <a:ext cx="131674" cy="13167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1645920"/>
            <a:ext cx="4343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Encaissements automatiques</a:t>
            </a:r>
            <a:pPr indent="0" marL="0">
              <a:buNone/>
            </a:pPr>
            <a:r>
              <a:rPr lang="en-US" sz="14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chaque paiement arrive dans le bon compte (caisse, Bankily, Masrvi, Sedad)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551176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" y="2622499"/>
            <a:ext cx="131674" cy="13167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60120" y="2514600"/>
            <a:ext cx="4343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Dépenses enregistrées</a:t>
            </a:r>
            <a:pPr indent="0" marL="0">
              <a:buNone/>
            </a:pPr>
            <a:r>
              <a:rPr lang="en-US" sz="14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électricité, fournitures, carburant, réparations…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48640" y="3419856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" y="3491179"/>
            <a:ext cx="131674" cy="13167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60120" y="3383280"/>
            <a:ext cx="4343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Salaires payés</a:t>
            </a:r>
            <a:pPr indent="0" marL="0">
              <a:buNone/>
            </a:pPr>
            <a:r>
              <a:rPr lang="en-US" sz="14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sortent automatiquement de la caisse ou du compte choisi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548640" y="4288536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" y="4359859"/>
            <a:ext cx="131674" cy="13167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60120" y="4251960"/>
            <a:ext cx="4343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 de chaque compte</a:t>
            </a:r>
            <a:pPr indent="0" marL="0">
              <a:buNone/>
            </a:pPr>
            <a:r>
              <a:rPr lang="en-US" sz="14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connu à tout moment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548640" y="5157216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" y="5228539"/>
            <a:ext cx="131674" cy="13167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60120" y="5120640"/>
            <a:ext cx="4343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mensuels</a:t>
            </a:r>
            <a:pPr indent="0" marL="0">
              <a:buNone/>
            </a:pPr>
            <a:r>
              <a:rPr lang="en-US" sz="14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entrées, sorties et évolution du solde</a:t>
            </a:r>
            <a:endParaRPr lang="en-US" sz="1450" dirty="0"/>
          </a:p>
        </p:txBody>
      </p:sp>
      <p:sp>
        <p:nvSpPr>
          <p:cNvPr id="19" name="Shape 12"/>
          <p:cNvSpPr/>
          <p:nvPr/>
        </p:nvSpPr>
        <p:spPr>
          <a:xfrm>
            <a:off x="6847198" y="1408176"/>
            <a:ext cx="3633484" cy="1709928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D5E2E6"/>
            </a:solidFill>
            <a:prstDash val="solid"/>
          </a:ln>
          <a:effectLst>
            <a:outerShdw sx="100000" sy="100000" kx="0" ky="0" algn="bl" rotWithShape="0" blurRad="101600" dist="38100" dir="5400000">
              <a:srgbClr val="0B2F3A">
                <a:alpha val="18000"/>
              </a:srgbClr>
            </a:outerShdw>
          </a:effectLst>
        </p:spPr>
      </p:sp>
      <p:pic>
        <p:nvPicPr>
          <p:cNvPr id="20" name="Image 5" descr="/tmp/claude-0/final/banque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2062" y="1463040"/>
            <a:ext cx="3523756" cy="160020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6861782" y="3282696"/>
            <a:ext cx="3604316" cy="3081528"/>
          </a:xfrm>
          <a:prstGeom prst="roundRect">
            <a:avLst>
              <a:gd name="adj" fmla="val 2374"/>
            </a:avLst>
          </a:prstGeom>
          <a:solidFill>
            <a:srgbClr val="FFFFFF"/>
          </a:solidFill>
          <a:ln w="9525">
            <a:solidFill>
              <a:srgbClr val="D5E2E6"/>
            </a:solidFill>
            <a:prstDash val="solid"/>
          </a:ln>
          <a:effectLst>
            <a:outerShdw sx="100000" sy="100000" kx="0" ky="0" algn="bl" rotWithShape="0" blurRad="101600" dist="38100" dir="5400000">
              <a:srgbClr val="0B2F3A">
                <a:alpha val="18000"/>
              </a:srgbClr>
            </a:outerShdw>
          </a:effectLst>
        </p:spPr>
      </p:sp>
      <p:pic>
        <p:nvPicPr>
          <p:cNvPr id="22" name="Image 6" descr="/tmp/claude-0/final/banque_graph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6646" y="3337560"/>
            <a:ext cx="3494588" cy="297180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 SCOLAIRE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Appel, absences et discipline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408176"/>
            <a:ext cx="5582681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D5E2E6"/>
            </a:solidFill>
            <a:prstDash val="solid"/>
          </a:ln>
          <a:effectLst>
            <a:outerShdw sx="100000" sy="100000" kx="0" ky="0" algn="bl" rotWithShape="0" blurRad="101600" dist="38100" dir="5400000">
              <a:srgbClr val="0B2F3A">
                <a:alpha val="18000"/>
              </a:srgbClr>
            </a:outerShdw>
          </a:effectLst>
        </p:spPr>
      </p:sp>
      <p:pic>
        <p:nvPicPr>
          <p:cNvPr id="5" name="Image 0" descr="/tmp/claude-0/final/app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472953" cy="2377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3776" y="4014216"/>
            <a:ext cx="3996119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9525">
            <a:solidFill>
              <a:srgbClr val="D5E2E6"/>
            </a:solidFill>
            <a:prstDash val="solid"/>
          </a:ln>
          <a:effectLst>
            <a:outerShdw sx="100000" sy="100000" kx="0" ky="0" algn="bl" rotWithShape="0" blurRad="101600" dist="38100" dir="5400000">
              <a:srgbClr val="0B2F3A">
                <a:alpha val="18000"/>
              </a:srgbClr>
            </a:outerShdw>
          </a:effectLst>
        </p:spPr>
      </p:sp>
      <p:pic>
        <p:nvPicPr>
          <p:cNvPr id="7" name="Image 1" descr="/tmp/claude-0/final/absenc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069080"/>
            <a:ext cx="3886391" cy="2286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89520" y="1636776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0843" y="1708099"/>
            <a:ext cx="131674" cy="13167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001000" y="1600200"/>
            <a:ext cx="37033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par séance</a:t>
            </a:r>
            <a:pPr indent="0" marL="0">
              <a:buNone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selon l’emploi du temps de chaque classe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7589520" y="2414016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0843" y="2485339"/>
            <a:ext cx="131674" cy="13167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001000" y="2377440"/>
            <a:ext cx="37033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Retards</a:t>
            </a:r>
            <a:pPr indent="0" marL="0">
              <a:buNone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avec l’heure d’arrivée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7589520" y="3191256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0843" y="3262579"/>
            <a:ext cx="131674" cy="13167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8001000" y="3154680"/>
            <a:ext cx="37033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Justifications</a:t>
            </a:r>
            <a:pPr indent="0" marL="0">
              <a:buNone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motif, remarque et historique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7589520" y="3968496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0843" y="4039819"/>
            <a:ext cx="131674" cy="131674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8001000" y="3931920"/>
            <a:ext cx="37033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pPr indent="0" marL="0">
              <a:buNone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un message prêt à envoyer au parent</a:t>
            </a:r>
            <a:endParaRPr lang="en-US" sz="1400" dirty="0"/>
          </a:p>
        </p:txBody>
      </p:sp>
      <p:sp>
        <p:nvSpPr>
          <p:cNvPr id="20" name="Shape 12"/>
          <p:cNvSpPr/>
          <p:nvPr/>
        </p:nvSpPr>
        <p:spPr>
          <a:xfrm>
            <a:off x="7589520" y="4745736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0843" y="4817059"/>
            <a:ext cx="131674" cy="131674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8001000" y="4709160"/>
            <a:ext cx="37033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Élèves signalés</a:t>
            </a:r>
            <a:pPr indent="0" marL="0">
              <a:buNone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au-delà des seuils d’absences ou de retards</a:t>
            </a:r>
            <a:endParaRPr lang="en-US" sz="1400" dirty="0"/>
          </a:p>
        </p:txBody>
      </p:sp>
      <p:sp>
        <p:nvSpPr>
          <p:cNvPr id="23" name="Shape 14"/>
          <p:cNvSpPr/>
          <p:nvPr/>
        </p:nvSpPr>
        <p:spPr>
          <a:xfrm>
            <a:off x="7589520" y="5522976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60843" y="5594299"/>
            <a:ext cx="131674" cy="131674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8001000" y="5486400"/>
            <a:ext cx="37033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</a:t>
            </a:r>
            <a:pPr indent="0" marL="0">
              <a:buNone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avertissement, retenue, exclusion</a:t>
            </a:r>
            <a:endParaRPr lang="en-US" sz="1400" dirty="0"/>
          </a:p>
        </p:txBody>
      </p:sp>
      <p:sp>
        <p:nvSpPr>
          <p:cNvPr id="26" name="Text 16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Classes, matières et emplois du temps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408176"/>
            <a:ext cx="7059168" cy="350115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9525">
            <a:solidFill>
              <a:srgbClr val="D5E2E6"/>
            </a:solidFill>
            <a:prstDash val="solid"/>
          </a:ln>
          <a:effectLst>
            <a:outerShdw sx="100000" sy="100000" kx="0" ky="0" algn="bl" rotWithShape="0" blurRad="101600" dist="38100" dir="5400000">
              <a:srgbClr val="0B2F3A">
                <a:alpha val="18000"/>
              </a:srgbClr>
            </a:outerShdw>
          </a:effectLst>
        </p:spPr>
      </p:sp>
      <p:pic>
        <p:nvPicPr>
          <p:cNvPr id="5" name="Image 0" descr="/tmp/claude-0/final/ed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949440" cy="339142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111496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" y="5182819"/>
            <a:ext cx="131674" cy="13167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5074920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Niveaux, classes et séries</a:t>
            </a:r>
            <a:pPr indent="0" marL="0">
              <a:buNone/>
            </a:pPr>
            <a:r>
              <a:rPr lang="en-US" sz="12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 la maternelle au lycée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48640" y="5376672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" y="5447995"/>
            <a:ext cx="131674" cy="13167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60120" y="5340096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Matières et coefficients</a:t>
            </a:r>
            <a:pPr indent="0" marL="0">
              <a:buNone/>
            </a:pPr>
            <a:r>
              <a:rPr lang="en-US" sz="12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propres à chaque classe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548640" y="5641848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" y="5713171"/>
            <a:ext cx="131674" cy="13167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60120" y="5605272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 par classe</a:t>
            </a:r>
            <a:pPr indent="0" marL="0">
              <a:buNone/>
            </a:pPr>
            <a:r>
              <a:rPr lang="en-US" sz="12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et par année scolaire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548640" y="5907024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" y="5978347"/>
            <a:ext cx="131674" cy="13167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960120" y="5870448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Emplois du temps</a:t>
            </a:r>
            <a:pPr indent="0" marL="0">
              <a:buNone/>
            </a:pPr>
            <a:r>
              <a:rPr lang="en-US" sz="12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des cours et des examens</a:t>
            </a:r>
            <a:endParaRPr lang="en-US" sz="1250" dirty="0"/>
          </a:p>
        </p:txBody>
      </p:sp>
      <p:sp>
        <p:nvSpPr>
          <p:cNvPr id="18" name="Shape 11"/>
          <p:cNvSpPr/>
          <p:nvPr/>
        </p:nvSpPr>
        <p:spPr>
          <a:xfrm>
            <a:off x="548640" y="6172200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963" y="6243523"/>
            <a:ext cx="131674" cy="131674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960120" y="6135624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Salles</a:t>
            </a:r>
            <a:pPr indent="0" marL="0">
              <a:buNone/>
            </a:pPr>
            <a:r>
              <a:rPr lang="en-US" sz="12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disponibilité en un coup d’œil</a:t>
            </a:r>
            <a:endParaRPr lang="en-US" sz="1250" dirty="0"/>
          </a:p>
        </p:txBody>
      </p:sp>
      <p:sp>
        <p:nvSpPr>
          <p:cNvPr id="21" name="Shape 13"/>
          <p:cNvSpPr/>
          <p:nvPr/>
        </p:nvSpPr>
        <p:spPr>
          <a:xfrm>
            <a:off x="7808976" y="1528771"/>
            <a:ext cx="3904488" cy="2794618"/>
          </a:xfrm>
          <a:prstGeom prst="roundRect">
            <a:avLst>
              <a:gd name="adj" fmla="val 2618"/>
            </a:avLst>
          </a:prstGeom>
          <a:solidFill>
            <a:srgbClr val="FFFFFF"/>
          </a:solidFill>
          <a:ln w="9525">
            <a:solidFill>
              <a:srgbClr val="D5E2E6"/>
            </a:solidFill>
            <a:prstDash val="solid"/>
          </a:ln>
          <a:effectLst>
            <a:outerShdw sx="100000" sy="100000" kx="0" ky="0" algn="bl" rotWithShape="0" blurRad="101600" dist="38100" dir="5400000">
              <a:srgbClr val="0B2F3A">
                <a:alpha val="18000"/>
              </a:srgbClr>
            </a:outerShdw>
          </a:effectLst>
        </p:spPr>
      </p:sp>
      <p:pic>
        <p:nvPicPr>
          <p:cNvPr id="22" name="Image 6" descr="/tmp/claude-0/final/pdf_edtpd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0" y="1583635"/>
            <a:ext cx="3794760" cy="268489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7863840" y="45262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Emploi du temps imprimable en PDF</a:t>
            </a:r>
            <a:endParaRPr lang="en-US" sz="1100" dirty="0"/>
          </a:p>
        </p:txBody>
      </p:sp>
      <p:sp>
        <p:nvSpPr>
          <p:cNvPr id="24" name="Shape 15"/>
          <p:cNvSpPr/>
          <p:nvPr/>
        </p:nvSpPr>
        <p:spPr>
          <a:xfrm>
            <a:off x="7863840" y="4983480"/>
            <a:ext cx="3794760" cy="1325880"/>
          </a:xfrm>
          <a:prstGeom prst="roundRect">
            <a:avLst>
              <a:gd name="adj" fmla="val 8276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5" name="Text 16"/>
          <p:cNvSpPr txBox="1"/>
          <p:nvPr/>
        </p:nvSpPr>
        <p:spPr>
          <a:xfrm>
            <a:off x="8046720" y="50292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dès le premier jour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matières, 22 classes, séances et modes de paiement déjà installés.</a:t>
            </a:r>
            <a:endParaRPr lang="en-US" sz="1400" dirty="0"/>
          </a:p>
        </p:txBody>
      </p:sp>
      <p:sp>
        <p:nvSpPr>
          <p:cNvPr id="26" name="Text 17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 et bulletins calculés automatiquement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408176"/>
            <a:ext cx="5870448" cy="3780775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D5E2E6"/>
            </a:solidFill>
            <a:prstDash val="solid"/>
          </a:ln>
          <a:effectLst>
            <a:outerShdw sx="100000" sy="100000" kx="0" ky="0" algn="bl" rotWithShape="0" blurRad="101600" dist="38100" dir="5400000">
              <a:srgbClr val="0B2F3A">
                <a:alpha val="18000"/>
              </a:srgbClr>
            </a:outerShdw>
          </a:effectLst>
        </p:spPr>
      </p:sp>
      <p:pic>
        <p:nvPicPr>
          <p:cNvPr id="5" name="Image 0" descr="/tmp/claude-0/final/sais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760720" cy="367104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28816" y="1408176"/>
            <a:ext cx="2670048" cy="3728424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D5E2E6"/>
            </a:solidFill>
            <a:prstDash val="solid"/>
          </a:ln>
          <a:effectLst>
            <a:outerShdw sx="100000" sy="100000" kx="0" ky="0" algn="bl" rotWithShape="0" blurRad="101600" dist="38100" dir="5400000">
              <a:srgbClr val="0B2F3A">
                <a:alpha val="18000"/>
              </a:srgbClr>
            </a:outerShdw>
          </a:effectLst>
        </p:spPr>
      </p:sp>
      <p:pic>
        <p:nvPicPr>
          <p:cNvPr id="7" name="Image 1" descr="/tmp/claude-0/final/pdf_bullet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63040"/>
            <a:ext cx="2560320" cy="361869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418320" y="1636776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643" y="1708099"/>
            <a:ext cx="131674" cy="13167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829800" y="1600200"/>
            <a:ext cx="1920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Devoirs et composition</a:t>
            </a:r>
            <a:pPr indent="0" marL="0">
              <a:buNone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saisis par classe et par matière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9418320" y="2551176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9643" y="2622499"/>
            <a:ext cx="131674" cy="13167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9829800" y="2514600"/>
            <a:ext cx="1920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Moyennes, rangs, mentions</a:t>
            </a:r>
            <a:pPr indent="0" marL="0">
              <a:buNone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calculés sans erreur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9418320" y="3465576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9643" y="3536899"/>
            <a:ext cx="131674" cy="13167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9829800" y="3429000"/>
            <a:ext cx="1920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Clôture du trimestre</a:t>
            </a:r>
            <a:pPr indent="0" marL="0">
              <a:buNone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les notes sont verrouillées</a:t>
            </a:r>
            <a:endParaRPr lang="en-US" sz="1300" dirty="0"/>
          </a:p>
        </p:txBody>
      </p:sp>
      <p:sp>
        <p:nvSpPr>
          <p:cNvPr id="17" name="Shape 10"/>
          <p:cNvSpPr/>
          <p:nvPr/>
        </p:nvSpPr>
        <p:spPr>
          <a:xfrm>
            <a:off x="9418320" y="4379976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9643" y="4451299"/>
            <a:ext cx="131674" cy="131674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9829800" y="4343400"/>
            <a:ext cx="1920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correction tracée</a:t>
            </a:r>
            <a:pPr indent="0" marL="0">
              <a:buNone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avec son motif</a:t>
            </a:r>
            <a:endParaRPr lang="en-US" sz="1300" dirty="0"/>
          </a:p>
        </p:txBody>
      </p:sp>
      <p:sp>
        <p:nvSpPr>
          <p:cNvPr id="20" name="Shape 12"/>
          <p:cNvSpPr/>
          <p:nvPr/>
        </p:nvSpPr>
        <p:spPr>
          <a:xfrm>
            <a:off x="9418320" y="5294376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9643" y="5365699"/>
            <a:ext cx="131674" cy="131674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9829800" y="5257800"/>
            <a:ext cx="1920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Bulletins bilingues</a:t>
            </a:r>
            <a:pPr indent="0" marL="0">
              <a:buNone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modèles personnalisables</a:t>
            </a:r>
            <a:endParaRPr lang="en-US" sz="1300" dirty="0"/>
          </a:p>
        </p:txBody>
      </p:sp>
      <p:sp>
        <p:nvSpPr>
          <p:cNvPr id="23" name="Text 14"/>
          <p:cNvSpPr txBox="1"/>
          <p:nvPr/>
        </p:nvSpPr>
        <p:spPr>
          <a:xfrm>
            <a:off x="548640" y="53949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rapide : les couleurs repèrent les notes faibles et les bonnes notes.</a:t>
            </a:r>
            <a:endParaRPr lang="en-US" sz="1100" dirty="0"/>
          </a:p>
        </p:txBody>
      </p:sp>
      <p:sp>
        <p:nvSpPr>
          <p:cNvPr id="24" name="Text 15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Conseil de classe et suivi des élèves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408176"/>
            <a:ext cx="6876288" cy="4127373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9525">
            <a:solidFill>
              <a:srgbClr val="D5E2E6"/>
            </a:solidFill>
            <a:prstDash val="solid"/>
          </a:ln>
          <a:effectLst>
            <a:outerShdw sx="100000" sy="100000" kx="0" ky="0" algn="bl" rotWithShape="0" blurRad="101600" dist="38100" dir="5400000">
              <a:srgbClr val="0B2F3A">
                <a:alpha val="18000"/>
              </a:srgbClr>
            </a:outerShdw>
          </a:effectLst>
        </p:spPr>
      </p:sp>
      <p:pic>
        <p:nvPicPr>
          <p:cNvPr id="5" name="Image 0" descr="/tmp/claude-0/final/resulta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766560" cy="401764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35119" y="1408176"/>
            <a:ext cx="4177882" cy="2578608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9525">
            <a:solidFill>
              <a:srgbClr val="D5E2E6"/>
            </a:solidFill>
            <a:prstDash val="solid"/>
          </a:ln>
          <a:effectLst>
            <a:outerShdw sx="100000" sy="100000" kx="0" ky="0" algn="bl" rotWithShape="0" blurRad="101600" dist="38100" dir="5400000">
              <a:srgbClr val="0B2F3A">
                <a:alpha val="18000"/>
              </a:srgbClr>
            </a:outerShdw>
          </a:effectLst>
        </p:spPr>
      </p:sp>
      <p:pic>
        <p:nvPicPr>
          <p:cNvPr id="7" name="Image 1" descr="/tmp/claude-0/final/difficul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983" y="1463040"/>
            <a:ext cx="4068154" cy="24688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589520" y="40233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Élèves en difficulté, matière par matière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7589520" y="4517136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0843" y="4588459"/>
            <a:ext cx="131674" cy="13167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001000" y="4480560"/>
            <a:ext cx="3657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et mentions</a:t>
            </a:r>
            <a:pPr indent="0" marL="0">
              <a:buNone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automatiques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7589520" y="5138928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0843" y="5210251"/>
            <a:ext cx="131674" cy="13167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001000" y="5102352"/>
            <a:ext cx="3657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Distinctions proposées</a:t>
            </a:r>
            <a:pPr indent="0" marL="0">
              <a:buNone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félicitations, tableau d’honneur, avertissement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7589520" y="5760720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0843" y="5832043"/>
            <a:ext cx="131674" cy="13167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001000" y="5724144"/>
            <a:ext cx="3657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de la direction</a:t>
            </a:r>
            <a:pPr indent="0" marL="0">
              <a:buNone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imprimée sur le bulletin</a:t>
            </a:r>
            <a:endParaRPr lang="en-US" sz="1300" dirty="0"/>
          </a:p>
        </p:txBody>
      </p:sp>
      <p:sp>
        <p:nvSpPr>
          <p:cNvPr id="18" name="Text 11"/>
          <p:cNvSpPr txBox="1"/>
          <p:nvPr/>
        </p:nvSpPr>
        <p:spPr>
          <a:xfrm>
            <a:off x="548640" y="56235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du trimestre : moyennes par matière, rang, mention et distinction.</a:t>
            </a:r>
            <a:endParaRPr lang="en-US" sz="1100" dirty="0"/>
          </a:p>
        </p:txBody>
      </p:sp>
      <p:sp>
        <p:nvSpPr>
          <p:cNvPr id="19" name="Text 12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Personnel : présence, remplacements et heures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408176"/>
            <a:ext cx="5687568" cy="3760302"/>
          </a:xfrm>
          <a:prstGeom prst="roundRect">
            <a:avLst>
              <a:gd name="adj" fmla="val 1945"/>
            </a:avLst>
          </a:prstGeom>
          <a:solidFill>
            <a:srgbClr val="FFFFFF"/>
          </a:solidFill>
          <a:ln w="9525">
            <a:solidFill>
              <a:srgbClr val="D5E2E6"/>
            </a:solidFill>
            <a:prstDash val="solid"/>
          </a:ln>
          <a:effectLst>
            <a:outerShdw sx="100000" sy="100000" kx="0" ky="0" algn="bl" rotWithShape="0" blurRad="101600" dist="38100" dir="5400000">
              <a:srgbClr val="0B2F3A">
                <a:alpha val="18000"/>
              </a:srgbClr>
            </a:outerShdw>
          </a:effectLst>
        </p:spPr>
      </p:sp>
      <p:pic>
        <p:nvPicPr>
          <p:cNvPr id="5" name="Image 0" descr="/tmp/claude-0/final/pres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577840" cy="36505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0216" y="1408176"/>
            <a:ext cx="5413248" cy="3328326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9525">
            <a:solidFill>
              <a:srgbClr val="D5E2E6"/>
            </a:solidFill>
            <a:prstDash val="solid"/>
          </a:ln>
          <a:effectLst>
            <a:outerShdw sx="100000" sy="100000" kx="0" ky="0" algn="bl" rotWithShape="0" blurRad="101600" dist="38100" dir="5400000">
              <a:srgbClr val="0B2F3A">
                <a:alpha val="18000"/>
              </a:srgbClr>
            </a:outerShdw>
          </a:effectLst>
        </p:spPr>
      </p:sp>
      <p:pic>
        <p:nvPicPr>
          <p:cNvPr id="7" name="Image 1" descr="/tmp/claude-0/final/heur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63040"/>
            <a:ext cx="5303520" cy="321859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53035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 des enseignants, cours par cours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355080" y="5303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Heures du mois et estimation de la paie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571500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57150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bilingue et pièces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3355848" y="571500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355848" y="57150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Absences avec motif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163056" y="571500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163056" y="57150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Remplacements suivis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970264" y="571500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970264" y="57150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 fériés et sans cours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SALAIRES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Salaires : du calcul au paiement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408176"/>
            <a:ext cx="5708278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9525">
            <a:solidFill>
              <a:srgbClr val="D5E2E6"/>
            </a:solidFill>
            <a:prstDash val="solid"/>
          </a:ln>
          <a:effectLst>
            <a:outerShdw sx="100000" sy="100000" kx="0" ky="0" algn="bl" rotWithShape="0" blurRad="101600" dist="38100" dir="5400000">
              <a:srgbClr val="0B2F3A">
                <a:alpha val="18000"/>
              </a:srgbClr>
            </a:outerShdw>
          </a:effectLst>
        </p:spPr>
      </p:sp>
      <p:pic>
        <p:nvPicPr>
          <p:cNvPr id="5" name="Image 0" descr="/tmp/claude-0/final/sal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59855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3170" y="1408176"/>
            <a:ext cx="4347460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9525">
            <a:solidFill>
              <a:srgbClr val="D5E2E6"/>
            </a:solidFill>
            <a:prstDash val="solid"/>
          </a:ln>
          <a:effectLst>
            <a:outerShdw sx="100000" sy="100000" kx="0" ky="0" algn="bl" rotWithShape="0" blurRad="101600" dist="38100" dir="5400000">
              <a:srgbClr val="0B2F3A">
                <a:alpha val="18000"/>
              </a:srgbClr>
            </a:outerShdw>
          </a:effectLst>
        </p:spPr>
      </p:sp>
      <p:pic>
        <p:nvPicPr>
          <p:cNvPr id="7" name="Image 1" descr="/tmp/claude-0/final/pdf_paie_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8034" y="1463040"/>
            <a:ext cx="4237732" cy="32918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5120640"/>
            <a:ext cx="548640" cy="54864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5263286"/>
            <a:ext cx="263347" cy="263347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234440" y="5074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1234440" y="5394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Salaire fixe ou à l’heure, heures sup., retenues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3355848" y="5120640"/>
            <a:ext cx="548640" cy="54864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8494" y="5263286"/>
            <a:ext cx="263347" cy="263347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041648" y="5074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4041648" y="5394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la personne autorisée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163056" y="5120640"/>
            <a:ext cx="548640" cy="54864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5702" y="5263286"/>
            <a:ext cx="263347" cy="263347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848856" y="5074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6848856" y="5394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espèces ou mobile money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8970264" y="5120640"/>
            <a:ext cx="548640" cy="54864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2910" y="5263286"/>
            <a:ext cx="263347" cy="263347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9656064" y="5074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de paie</a:t>
            </a:r>
            <a:endParaRPr lang="en-US" sz="1500" dirty="0"/>
          </a:p>
        </p:txBody>
      </p:sp>
      <p:sp>
        <p:nvSpPr>
          <p:cNvPr id="23" name="Text 15"/>
          <p:cNvSpPr txBox="1"/>
          <p:nvPr/>
        </p:nvSpPr>
        <p:spPr>
          <a:xfrm>
            <a:off x="9656064" y="5394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PDF, visible par l’employé</a:t>
            </a:r>
            <a:endParaRPr lang="en-US" sz="1250" dirty="0"/>
          </a:p>
        </p:txBody>
      </p:sp>
      <p:sp>
        <p:nvSpPr>
          <p:cNvPr id="24" name="Text 16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 et prêts au personnel suivis jusqu’au dernier remboursement.</a:t>
            </a:r>
            <a:endParaRPr lang="en-US" sz="1100" dirty="0"/>
          </a:p>
        </p:txBody>
      </p:sp>
      <p:sp>
        <p:nvSpPr>
          <p:cNvPr id="25" name="Text 17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documents officiels prêts à imprimer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499616"/>
            <a:ext cx="2167128" cy="3027709"/>
          </a:xfrm>
          <a:prstGeom prst="roundRect">
            <a:avLst>
              <a:gd name="adj" fmla="val 3376"/>
            </a:avLst>
          </a:prstGeom>
          <a:solidFill>
            <a:srgbClr val="FFFFFF"/>
          </a:solidFill>
          <a:ln w="9525">
            <a:solidFill>
              <a:srgbClr val="D5E2E6"/>
            </a:solidFill>
            <a:prstDash val="solid"/>
          </a:ln>
          <a:effectLst>
            <a:outerShdw sx="100000" sy="100000" kx="0" ky="0" algn="bl" rotWithShape="0" blurRad="101600" dist="38100" dir="5400000">
              <a:srgbClr val="0B2F3A">
                <a:alpha val="18000"/>
              </a:srgbClr>
            </a:outerShdw>
          </a:effectLst>
        </p:spPr>
      </p:sp>
      <p:pic>
        <p:nvPicPr>
          <p:cNvPr id="5" name="Image 0" descr="/tmp/claude-0/final/pdf_rec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2057400" cy="291798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2578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Reçu de paiement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752344" y="1499616"/>
            <a:ext cx="2167128" cy="3017608"/>
          </a:xfrm>
          <a:prstGeom prst="roundRect">
            <a:avLst>
              <a:gd name="adj" fmla="val 3376"/>
            </a:avLst>
          </a:prstGeom>
          <a:solidFill>
            <a:srgbClr val="FFFFFF"/>
          </a:solidFill>
          <a:ln w="9525">
            <a:solidFill>
              <a:srgbClr val="D5E2E6"/>
            </a:solidFill>
            <a:prstDash val="solid"/>
          </a:ln>
          <a:effectLst>
            <a:outerShdw sx="100000" sy="100000" kx="0" ky="0" algn="bl" rotWithShape="0" blurRad="101600" dist="38100" dir="5400000">
              <a:srgbClr val="0B2F3A">
                <a:alpha val="18000"/>
              </a:srgbClr>
            </a:outerShdw>
          </a:effectLst>
        </p:spPr>
      </p:sp>
      <p:pic>
        <p:nvPicPr>
          <p:cNvPr id="8" name="Image 1" descr="/tmp/claude-0/final/pdf_attest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208" y="1554480"/>
            <a:ext cx="2057400" cy="2907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807208" y="52578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 d’inscription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010912" y="1499616"/>
            <a:ext cx="2167128" cy="3017608"/>
          </a:xfrm>
          <a:prstGeom prst="roundRect">
            <a:avLst>
              <a:gd name="adj" fmla="val 3376"/>
            </a:avLst>
          </a:prstGeom>
          <a:solidFill>
            <a:srgbClr val="FFFFFF"/>
          </a:solidFill>
          <a:ln w="9525">
            <a:solidFill>
              <a:srgbClr val="D5E2E6"/>
            </a:solidFill>
            <a:prstDash val="solid"/>
          </a:ln>
          <a:effectLst>
            <a:outerShdw sx="100000" sy="100000" kx="0" ky="0" algn="bl" rotWithShape="0" blurRad="101600" dist="38100" dir="5400000">
              <a:srgbClr val="0B2F3A">
                <a:alpha val="18000"/>
              </a:srgbClr>
            </a:outerShdw>
          </a:effectLst>
        </p:spPr>
      </p:sp>
      <p:pic>
        <p:nvPicPr>
          <p:cNvPr id="11" name="Image 2" descr="/tmp/claude-0/final/pdf_certific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776" y="1554480"/>
            <a:ext cx="2057400" cy="2907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065776" y="52578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de scolarité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7269480" y="1499616"/>
            <a:ext cx="2167128" cy="3017608"/>
          </a:xfrm>
          <a:prstGeom prst="roundRect">
            <a:avLst>
              <a:gd name="adj" fmla="val 3376"/>
            </a:avLst>
          </a:prstGeom>
          <a:solidFill>
            <a:srgbClr val="FFFFFF"/>
          </a:solidFill>
          <a:ln w="9525">
            <a:solidFill>
              <a:srgbClr val="D5E2E6"/>
            </a:solidFill>
            <a:prstDash val="solid"/>
          </a:ln>
          <a:effectLst>
            <a:outerShdw sx="100000" sy="100000" kx="0" ky="0" algn="bl" rotWithShape="0" blurRad="101600" dist="38100" dir="5400000">
              <a:srgbClr val="0B2F3A">
                <a:alpha val="18000"/>
              </a:srgbClr>
            </a:outerShdw>
          </a:effectLst>
        </p:spPr>
      </p:sp>
      <p:pic>
        <p:nvPicPr>
          <p:cNvPr id="14" name="Image 3" descr="/tmp/claude-0/final/pdf_bullet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4344" y="1554480"/>
            <a:ext cx="2057400" cy="29078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324344" y="52578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Bulletin de notes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9528048" y="1499616"/>
            <a:ext cx="2167128" cy="3017608"/>
          </a:xfrm>
          <a:prstGeom prst="roundRect">
            <a:avLst>
              <a:gd name="adj" fmla="val 3376"/>
            </a:avLst>
          </a:prstGeom>
          <a:solidFill>
            <a:srgbClr val="FFFFFF"/>
          </a:solidFill>
          <a:ln w="9525">
            <a:solidFill>
              <a:srgbClr val="D5E2E6"/>
            </a:solidFill>
            <a:prstDash val="solid"/>
          </a:ln>
          <a:effectLst>
            <a:outerShdw sx="100000" sy="100000" kx="0" ky="0" algn="bl" rotWithShape="0" blurRad="101600" dist="38100" dir="5400000">
              <a:srgbClr val="0B2F3A">
                <a:alpha val="18000"/>
              </a:srgbClr>
            </a:outerShdw>
          </a:effectLst>
        </p:spPr>
      </p:sp>
      <p:pic>
        <p:nvPicPr>
          <p:cNvPr id="17" name="Image 4" descr="/tmp/claude-0/final/pdf_pai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2912" y="1554480"/>
            <a:ext cx="2057400" cy="290788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582912" y="52578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de paie</a:t>
            </a:r>
            <a:endParaRPr lang="en-US" sz="1400" dirty="0"/>
          </a:p>
        </p:txBody>
      </p:sp>
      <p:sp>
        <p:nvSpPr>
          <p:cNvPr id="19" name="Text 12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cachet et signature de l’école · en français ou en arabe · modèles personnalisables · filigrane · export Excel des listes</a:t>
            </a:r>
            <a:endParaRPr lang="en-US" sz="1400" dirty="0"/>
          </a:p>
        </p:txBody>
      </p:sp>
      <p:sp>
        <p:nvSpPr>
          <p:cNvPr id="20" name="Text 1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ESPACES EN LIGNE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L’espace parents et élèves, sur téléphone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parents suivent tous leurs enfants depuis leur téléphone, en français ou en arabe.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05456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" y="2576779"/>
            <a:ext cx="131674" cy="1316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246888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et bulletins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962656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" y="3033979"/>
            <a:ext cx="131674" cy="13167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60120" y="292608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Emploi du temps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3419856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" y="3491179"/>
            <a:ext cx="131674" cy="13167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60120" y="338328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Absences et retards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48640" y="3877056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" y="3948379"/>
            <a:ext cx="131674" cy="13167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0120" y="384048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 et reçus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548640" y="4334256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" y="4405579"/>
            <a:ext cx="131674" cy="13167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60120" y="429768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de scolarité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548640" y="4791456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963" y="4862779"/>
            <a:ext cx="131674" cy="13167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960120" y="475488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du dossier</a:t>
            </a:r>
            <a:endParaRPr lang="en-US" sz="1400" dirty="0"/>
          </a:p>
        </p:txBody>
      </p:sp>
      <p:sp>
        <p:nvSpPr>
          <p:cNvPr id="23" name="Text 15"/>
          <p:cNvSpPr txBox="1"/>
          <p:nvPr/>
        </p:nvSpPr>
        <p:spPr>
          <a:xfrm>
            <a:off x="548640" y="53949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créés par l’école, fiche d’accès imprimée ou envoyée par WhatsApp.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4023360" y="1463040"/>
            <a:ext cx="1922190" cy="3840480"/>
          </a:xfrm>
          <a:prstGeom prst="roundRect">
            <a:avLst>
              <a:gd name="adj" fmla="val 14271"/>
            </a:avLst>
          </a:prstGeom>
          <a:solidFill>
            <a:srgbClr val="15222A"/>
          </a:solidFill>
          <a:ln w="12700">
            <a:solidFill>
              <a:srgbClr val="15222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pic>
        <p:nvPicPr>
          <p:cNvPr id="25" name="Image 6" descr="/tmp/claude-0/final/p_hom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0520" y="1600200"/>
            <a:ext cx="1647870" cy="356616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6035040" y="1463040"/>
            <a:ext cx="1922190" cy="3840480"/>
          </a:xfrm>
          <a:prstGeom prst="roundRect">
            <a:avLst>
              <a:gd name="adj" fmla="val 14271"/>
            </a:avLst>
          </a:prstGeom>
          <a:solidFill>
            <a:srgbClr val="15222A"/>
          </a:solidFill>
          <a:ln w="12700">
            <a:solidFill>
              <a:srgbClr val="15222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pic>
        <p:nvPicPr>
          <p:cNvPr id="27" name="Image 7" descr="/tmp/claude-0/final/p_notes_t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1600200"/>
            <a:ext cx="1647870" cy="3566160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8046720" y="1463040"/>
            <a:ext cx="1922190" cy="3840480"/>
          </a:xfrm>
          <a:prstGeom prst="roundRect">
            <a:avLst>
              <a:gd name="adj" fmla="val 14271"/>
            </a:avLst>
          </a:prstGeom>
          <a:solidFill>
            <a:srgbClr val="15222A"/>
          </a:solidFill>
          <a:ln w="12700">
            <a:solidFill>
              <a:srgbClr val="15222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pic>
        <p:nvPicPr>
          <p:cNvPr id="29" name="Image 8" descr="/tmp/claude-0/final/p_paiement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83880" y="1600200"/>
            <a:ext cx="1647870" cy="3566160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10058400" y="1463040"/>
            <a:ext cx="1922190" cy="3840480"/>
          </a:xfrm>
          <a:prstGeom prst="roundRect">
            <a:avLst>
              <a:gd name="adj" fmla="val 14271"/>
            </a:avLst>
          </a:prstGeom>
          <a:solidFill>
            <a:srgbClr val="15222A"/>
          </a:solidFill>
          <a:ln w="12700">
            <a:solidFill>
              <a:srgbClr val="15222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pic>
        <p:nvPicPr>
          <p:cNvPr id="31" name="Image 9" descr="/tmp/claude-0/final/p_home_a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95560" y="1600200"/>
            <a:ext cx="1647870" cy="3566160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4023360" y="5440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1100" dirty="0"/>
          </a:p>
        </p:txBody>
      </p:sp>
      <p:sp>
        <p:nvSpPr>
          <p:cNvPr id="33" name="Text 21"/>
          <p:cNvSpPr txBox="1"/>
          <p:nvPr/>
        </p:nvSpPr>
        <p:spPr>
          <a:xfrm>
            <a:off x="6035040" y="5440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34" name="Text 22"/>
          <p:cNvSpPr txBox="1"/>
          <p:nvPr/>
        </p:nvSpPr>
        <p:spPr>
          <a:xfrm>
            <a:off x="8046720" y="5440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</a:t>
            </a:r>
            <a:endParaRPr lang="en-US" sz="1100" dirty="0"/>
          </a:p>
        </p:txBody>
      </p:sp>
      <p:sp>
        <p:nvSpPr>
          <p:cNvPr id="35" name="Text 23"/>
          <p:cNvSpPr txBox="1"/>
          <p:nvPr/>
        </p:nvSpPr>
        <p:spPr>
          <a:xfrm>
            <a:off x="10058400" y="5440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arabe</a:t>
            </a:r>
            <a:endParaRPr lang="en-US" sz="1100" dirty="0"/>
          </a:p>
        </p:txBody>
      </p:sp>
      <p:sp>
        <p:nvSpPr>
          <p:cNvPr id="36" name="Text 2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ESPACES EN LIGNE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L’espace des enseignants et du personnel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091202" cy="4206240"/>
          </a:xfrm>
          <a:prstGeom prst="roundRect">
            <a:avLst>
              <a:gd name="adj" fmla="val 13118"/>
            </a:avLst>
          </a:prstGeom>
          <a:solidFill>
            <a:srgbClr val="15222A"/>
          </a:solidFill>
          <a:ln w="12700">
            <a:solidFill>
              <a:srgbClr val="15222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pic>
        <p:nvPicPr>
          <p:cNvPr id="5" name="Image 0" descr="/tmp/claude-0/final/t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1816882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0" y="1417320"/>
            <a:ext cx="2091202" cy="4206240"/>
          </a:xfrm>
          <a:prstGeom prst="roundRect">
            <a:avLst>
              <a:gd name="adj" fmla="val 13118"/>
            </a:avLst>
          </a:prstGeom>
          <a:solidFill>
            <a:srgbClr val="15222A"/>
          </a:solidFill>
          <a:ln w="12700">
            <a:solidFill>
              <a:srgbClr val="15222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pic>
        <p:nvPicPr>
          <p:cNvPr id="7" name="Image 1" descr="/tmp/claude-0/final/t_cou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554480"/>
            <a:ext cx="1816882" cy="39319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937760" y="1417320"/>
            <a:ext cx="2091202" cy="4206240"/>
          </a:xfrm>
          <a:prstGeom prst="roundRect">
            <a:avLst>
              <a:gd name="adj" fmla="val 13118"/>
            </a:avLst>
          </a:prstGeom>
          <a:solidFill>
            <a:srgbClr val="15222A"/>
          </a:solidFill>
          <a:ln w="12700">
            <a:solidFill>
              <a:srgbClr val="15222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pic>
        <p:nvPicPr>
          <p:cNvPr id="9" name="Image 2" descr="/tmp/claude-0/final/t_not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554480"/>
            <a:ext cx="1816882" cy="39319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48640" y="5715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2743200" y="5715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du jour</a:t>
            </a:r>
            <a:endParaRPr lang="en-US" sz="1100" dirty="0"/>
          </a:p>
        </p:txBody>
      </p:sp>
      <p:sp>
        <p:nvSpPr>
          <p:cNvPr id="12" name="Text 7"/>
          <p:cNvSpPr txBox="1"/>
          <p:nvPr/>
        </p:nvSpPr>
        <p:spPr>
          <a:xfrm>
            <a:off x="4937760" y="5715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des notes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7315200" y="1636776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6523" y="1708099"/>
            <a:ext cx="131674" cy="13167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726680" y="1600200"/>
            <a:ext cx="39319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du jour</a:t>
            </a:r>
            <a:pPr indent="0" marL="0">
              <a:buNone/>
            </a:pPr>
            <a:r>
              <a:rPr lang="en-US" sz="15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et déclaration du sujet traité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7315200" y="2414016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6523" y="2485339"/>
            <a:ext cx="131674" cy="13167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726680" y="2377440"/>
            <a:ext cx="39319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Emploi du temps</a:t>
            </a:r>
            <a:pPr indent="0" marL="0">
              <a:buNone/>
            </a:pPr>
            <a:r>
              <a:rPr lang="en-US" sz="15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et calendrier des examens</a:t>
            </a:r>
            <a:endParaRPr lang="en-US" sz="1500" dirty="0"/>
          </a:p>
        </p:txBody>
      </p:sp>
      <p:sp>
        <p:nvSpPr>
          <p:cNvPr id="19" name="Shape 12"/>
          <p:cNvSpPr/>
          <p:nvPr/>
        </p:nvSpPr>
        <p:spPr>
          <a:xfrm>
            <a:off x="7315200" y="3191256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6523" y="3262579"/>
            <a:ext cx="131674" cy="13167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726680" y="3154680"/>
            <a:ext cx="39319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des notes</a:t>
            </a:r>
            <a:pPr indent="0" marL="0">
              <a:buNone/>
            </a:pPr>
            <a:r>
              <a:rPr lang="en-US" sz="15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depuis le téléphone, dans ses classes</a:t>
            </a:r>
            <a:endParaRPr lang="en-US" sz="1500" dirty="0"/>
          </a:p>
        </p:txBody>
      </p:sp>
      <p:sp>
        <p:nvSpPr>
          <p:cNvPr id="22" name="Shape 14"/>
          <p:cNvSpPr/>
          <p:nvPr/>
        </p:nvSpPr>
        <p:spPr>
          <a:xfrm>
            <a:off x="7315200" y="3968496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6523" y="4039819"/>
            <a:ext cx="131674" cy="13167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7726680" y="3931920"/>
            <a:ext cx="39319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</a:t>
            </a:r>
            <a:pPr indent="0" marL="0">
              <a:buNone/>
            </a:pPr>
            <a:r>
              <a:rPr lang="en-US" sz="15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pour les surveillants, avec message aux parents</a:t>
            </a:r>
            <a:endParaRPr lang="en-US" sz="1500" dirty="0"/>
          </a:p>
        </p:txBody>
      </p:sp>
      <p:sp>
        <p:nvSpPr>
          <p:cNvPr id="25" name="Shape 16"/>
          <p:cNvSpPr/>
          <p:nvPr/>
        </p:nvSpPr>
        <p:spPr>
          <a:xfrm>
            <a:off x="7315200" y="4745736"/>
            <a:ext cx="274320" cy="274320"/>
          </a:xfrm>
          <a:prstGeom prst="ellipse">
            <a:avLst/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6523" y="4817059"/>
            <a:ext cx="131674" cy="131674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7726680" y="4709160"/>
            <a:ext cx="39319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Heures et salaires</a:t>
            </a:r>
            <a:pPr indent="0" marL="0">
              <a:buNone/>
            </a:pPr>
            <a:r>
              <a:rPr lang="en-US" sz="15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heures du mois, bulletins de paie</a:t>
            </a:r>
            <a:endParaRPr lang="en-US" sz="1500" dirty="0"/>
          </a:p>
        </p:txBody>
      </p:sp>
      <p:sp>
        <p:nvSpPr>
          <p:cNvPr id="28" name="Shape 18"/>
          <p:cNvSpPr/>
          <p:nvPr/>
        </p:nvSpPr>
        <p:spPr>
          <a:xfrm>
            <a:off x="7315200" y="5486400"/>
            <a:ext cx="4343400" cy="731520"/>
          </a:xfrm>
          <a:prstGeom prst="roundRect">
            <a:avLst>
              <a:gd name="adj" fmla="val 15000"/>
            </a:avLst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sp>
        <p:nvSpPr>
          <p:cNvPr id="29" name="Text 19"/>
          <p:cNvSpPr txBox="1"/>
          <p:nvPr/>
        </p:nvSpPr>
        <p:spPr>
          <a:xfrm>
            <a:off x="7498080" y="54864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direction choisit, compte par compte, ce que chacun peut voir et faire.</a:t>
            </a:r>
            <a:endParaRPr lang="en-US" sz="1350" dirty="0"/>
          </a:p>
        </p:txBody>
      </p:sp>
      <p:sp>
        <p:nvSpPr>
          <p:cNvPr id="30" name="Text 20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D’ACCÈS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 : chacun voit ce qu’il doit voir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408176"/>
            <a:ext cx="5138928" cy="3487141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9525">
            <a:solidFill>
              <a:srgbClr val="D5E2E6"/>
            </a:solidFill>
            <a:prstDash val="solid"/>
          </a:ln>
          <a:effectLst>
            <a:outerShdw sx="100000" sy="100000" kx="0" ky="0" algn="bl" rotWithShape="0" blurRad="101600" dist="38100" dir="5400000">
              <a:srgbClr val="0B2F3A">
                <a:alpha val="18000"/>
              </a:srgbClr>
            </a:outerShdw>
          </a:effectLst>
        </p:spPr>
      </p:sp>
      <p:pic>
        <p:nvPicPr>
          <p:cNvPr id="5" name="Image 0" descr="/tmp/claude-0/final/per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029200" cy="337741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51576" y="1408176"/>
            <a:ext cx="3218688" cy="2902139"/>
          </a:xfrm>
          <a:prstGeom prst="roundRect">
            <a:avLst>
              <a:gd name="adj" fmla="val 2521"/>
            </a:avLst>
          </a:prstGeom>
          <a:solidFill>
            <a:srgbClr val="FFFFFF"/>
          </a:solidFill>
          <a:ln w="9525">
            <a:solidFill>
              <a:srgbClr val="D5E2E6"/>
            </a:solidFill>
            <a:prstDash val="solid"/>
          </a:ln>
          <a:effectLst>
            <a:outerShdw sx="100000" sy="100000" kx="0" ky="0" algn="bl" rotWithShape="0" blurRad="101600" dist="38100" dir="5400000">
              <a:srgbClr val="0B2F3A">
                <a:alpha val="18000"/>
              </a:srgbClr>
            </a:outerShdw>
          </a:effectLst>
        </p:spPr>
      </p:sp>
      <p:pic>
        <p:nvPicPr>
          <p:cNvPr id="7" name="Image 1" descr="/tmp/claude-0/final/espace_acc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463040"/>
            <a:ext cx="3108960" cy="279241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5257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détaillés par personne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5806440" y="5257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d’un parent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9235440" y="155448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4312" y="1673352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829800" y="1554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rôle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9829800" y="202996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direction, secrétariat, comptable, enseignant, surveillant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9235440" y="274320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4312" y="2862072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829800" y="2743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sensibles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9829800" y="321868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exonérer, corriger une note, payer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9235440" y="393192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4312" y="4050792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829800" y="39319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9829800" y="440740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notes, statuts et salaires tracés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9235440" y="512064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4312" y="5239512"/>
            <a:ext cx="219456" cy="219456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9829800" y="51206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coupé</a:t>
            </a:r>
            <a:endParaRPr lang="en-US" sz="1400" dirty="0"/>
          </a:p>
        </p:txBody>
      </p:sp>
      <p:sp>
        <p:nvSpPr>
          <p:cNvPr id="25" name="Text 17"/>
          <p:cNvSpPr txBox="1"/>
          <p:nvPr/>
        </p:nvSpPr>
        <p:spPr>
          <a:xfrm>
            <a:off x="9829800" y="559612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automatiquement si l’élève quitte l’école</a:t>
            </a:r>
            <a:endParaRPr lang="en-US" sz="1150" dirty="0"/>
          </a:p>
        </p:txBody>
      </p:sp>
      <p:sp>
        <p:nvSpPr>
          <p:cNvPr id="26" name="Text 18"/>
          <p:cNvSpPr txBox="1"/>
          <p:nvPr/>
        </p:nvSpPr>
        <p:spPr>
          <a:xfrm>
            <a:off x="548640" y="57607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années passées restent consultables mais ne peuvent plus être modifiées.</a:t>
            </a:r>
            <a:endParaRPr lang="en-US" sz="1400" dirty="0"/>
          </a:p>
        </p:txBody>
      </p:sp>
      <p:sp>
        <p:nvSpPr>
          <p:cNvPr id="27" name="Text 19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EN LIGNE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Installation en ligne ou installation locale ?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114800"/>
                <a:gridCol w="4114800"/>
              </a:tblGrid>
              <a:tr h="5212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ligne (recommandé)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 un ordinateur de l’école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Partout : bureau, maison, téléphone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Seulement dans l’école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Espace parents et enseignants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Disponible 24 h/24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Impossible ou compliqué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Sauvegardes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Automatiques, hors de l’école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Manuelles ; perte possible (panne, vol, incendie)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Mises à jour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distance, sans déplacement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Intervention sur place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Matériel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 serveur à acheter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ordinateur dédié, allumé en permanence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Immédiate, à distance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Déplacement d’un technicien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 en déplacement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Suivi en direct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Aucune visibilité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852160"/>
            <a:ext cx="457200" cy="45720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971032"/>
            <a:ext cx="219456" cy="2194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5852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suffit d’une connexion internet, même la 4G d’un téléphone.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SYSTÈME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votre école y gagne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0409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874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temps gagné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517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Reçus, bulletins, listes et attestations sortent en un clic.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297680" y="160020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1874520"/>
            <a:ext cx="640080" cy="64008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421" y="204094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9240" y="1874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L’argent mieux suivi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6517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ouguiya encaissée ou dépensée est enregistrée ; les impayés sont visibles.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046720" y="160020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21040" y="1874520"/>
            <a:ext cx="640080" cy="64008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7461" y="204094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98280" y="1874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parents rassurés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6517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suivent notes, absences et paiements depuis leur téléphone.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437266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00200" y="4206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décisions éclairées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4983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de bord et chiffres à jour pour la direction.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4297680" y="393192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2000" y="4206240"/>
            <a:ext cx="640080" cy="64008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8421" y="4372661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49240" y="4206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Français et arabe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0" y="4983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Interface, noms et documents dans les deux langues.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8046720" y="393192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21040" y="4206240"/>
            <a:ext cx="640080" cy="64008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7461" y="4372661"/>
            <a:ext cx="307238" cy="30723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98280" y="4206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Pensé pour nos écoles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8321040" y="4983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et matières locales, Bankily, Masrvi, Sedad, bulletins adaptés.</a:t>
            </a:r>
            <a:endParaRPr lang="en-US" sz="1350" dirty="0"/>
          </a:p>
        </p:txBody>
      </p:sp>
      <p:sp>
        <p:nvSpPr>
          <p:cNvPr id="34" name="Text 26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SERVICE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démarrage simple et accompagné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34440" y="2331720"/>
            <a:ext cx="9326880" cy="0"/>
          </a:xfrm>
          <a:prstGeom prst="line">
            <a:avLst/>
          </a:prstGeom>
          <a:noFill/>
          <a:ln w="38100">
            <a:solidFill>
              <a:srgbClr val="D5E2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914400" cy="914400"/>
          </a:xfrm>
          <a:prstGeom prst="ellipse">
            <a:avLst/>
          </a:prstGeom>
          <a:solidFill>
            <a:srgbClr val="F2A93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63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en ligne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490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Matières, classes, séances, frais et modes de paiement déjà prêts.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0" y="1874520"/>
            <a:ext cx="914400" cy="914400"/>
          </a:xfrm>
          <a:prstGeom prst="ellipse">
            <a:avLst/>
          </a:prstGeom>
          <a:solidFill>
            <a:srgbClr val="0F4C5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3063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Paramétrage de votre école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37490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cachet, tarifs, enseignants, comptes de chacun.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92240" y="1874520"/>
            <a:ext cx="914400" cy="914400"/>
          </a:xfrm>
          <a:prstGeom prst="ellipse">
            <a:avLst/>
          </a:prstGeom>
          <a:solidFill>
            <a:srgbClr val="0F4C5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3063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des équipes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37490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Direction, secrétariat, comptable, enseignants et surveillants.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326880" y="1874520"/>
            <a:ext cx="914400" cy="914400"/>
          </a:xfrm>
          <a:prstGeom prst="ellipse">
            <a:avLst/>
          </a:prstGeom>
          <a:solidFill>
            <a:srgbClr val="0F4C5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2688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3063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Accompagnement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9052560" y="37490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Assistance à distance et mises à jour régulières.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1206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nouvelle année scolaire se prépare avec un assistant : passage des élèves, nouveaux tarifs, réinscriptions et arriérés reportés.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2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6400800" cy="6400800"/>
          </a:xfrm>
          <a:prstGeom prst="ellipse">
            <a:avLst/>
          </a:prstGeom>
          <a:solidFill>
            <a:srgbClr val="0F4C5C">
              <a:alpha val="55000"/>
            </a:srgbClr>
          </a:solidFill>
          <a:ln w="12700">
            <a:solidFill>
              <a:srgbClr val="0F4C5C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188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Demandez une démonstration pour votre école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760720" y="3108960"/>
            <a:ext cx="585216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26480" y="3337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et développement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36576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Abdou Mahfoudh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126480" y="4480560"/>
            <a:ext cx="502920" cy="50292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7239" y="4611319"/>
            <a:ext cx="241402" cy="241402"/>
          </a:xfrm>
          <a:prstGeom prst="rect">
            <a:avLst/>
          </a:prstGeom>
        </p:spPr>
      </p:pic>
      <p:sp>
        <p:nvSpPr>
          <p:cNvPr id="10" name="Text 7">
            <a:hlinkClick r:id="rId2" tooltip=""/>
          </p:cNvPr>
          <p:cNvSpPr txBox="1"/>
          <p:nvPr/>
        </p:nvSpPr>
        <p:spPr>
          <a:xfrm>
            <a:off x="6766560" y="44805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abdouhassen2228@gmail.com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2004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vous montrons le système avec les données de votre école.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Système de gestion scolaire</dc:title>
  <dc:subject>PptxGenJS Presentation</dc:subject>
  <dc:creator>Abdou Mahfoudh</dc:creator>
  <cp:lastModifiedBy>Abdou Mahfoudh</cp:lastModifiedBy>
  <cp:revision>1</cp:revision>
  <dcterms:created xsi:type="dcterms:W3CDTF">2026-09-27T14:56:39Z</dcterms:created>
  <dcterms:modified xsi:type="dcterms:W3CDTF">2026-09-27T14:56:39Z</dcterms:modified>
</cp:coreProperties>
</file>